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59" r:id="rId3"/>
    <p:sldId id="260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954" autoAdjust="0"/>
    <p:restoredTop sz="94660"/>
  </p:normalViewPr>
  <p:slideViewPr>
    <p:cSldViewPr snapToGrid="0">
      <p:cViewPr>
        <p:scale>
          <a:sx n="150" d="100"/>
          <a:sy n="150" d="100"/>
        </p:scale>
        <p:origin x="1092" y="4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9B9E52-4ECA-4865-9DB2-9325CDFCC4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652EF45-1AE6-4874-A973-40DB3E30F4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4649487-162C-400A-8298-775EDE5FC3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52016-CBFF-4AC2-AAF3-8502676D51D8}" type="datetimeFigureOut">
              <a:rPr lang="ko-KR" altLang="en-US" smtClean="0"/>
              <a:t>2026-05-14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001C12C-6360-4F15-A560-24BEBCD53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12D418A-CA9A-4E60-B1A7-58CBC28D9B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883A0-628B-497A-8C0E-140788D91AD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54205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DD10DAB-7B23-435A-BEE0-38454D32A0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A0B4E12-7217-4EA0-A04A-74ED27E742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ACC63BA-F0F9-467A-9C45-19EA01D6D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52016-CBFF-4AC2-AAF3-8502676D51D8}" type="datetimeFigureOut">
              <a:rPr lang="ko-KR" altLang="en-US" smtClean="0"/>
              <a:t>2026-05-14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C30E2C1-5925-402D-946C-EF219FA26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16BF473-D5B1-4A8C-98A2-C36B5FDDA1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883A0-628B-497A-8C0E-140788D91AD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81417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793723-82AB-4EF5-A0C5-97636A5309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4DDE5D9-A351-4156-AFC7-58A17DF94D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CD818EC-A80D-4E6C-8C58-9BA8D93955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52016-CBFF-4AC2-AAF3-8502676D51D8}" type="datetimeFigureOut">
              <a:rPr lang="ko-KR" altLang="en-US" smtClean="0"/>
              <a:t>2026-05-14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3ABDD1B-7CFD-45F0-8E28-CD5C88A7FA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65D10A8-D506-4F2D-80B0-2CE210462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883A0-628B-497A-8C0E-140788D91AD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21335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24ADCC-1487-4918-81B6-9181851BB4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3DF4FB9-5F15-43CC-BADF-2CD03FFAFD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2660B4C-162E-4288-9C25-366C3C4FE1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CB25F6F-3C45-442A-A119-F7C1055DD0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52016-CBFF-4AC2-AAF3-8502676D51D8}" type="datetimeFigureOut">
              <a:rPr lang="ko-KR" altLang="en-US" smtClean="0"/>
              <a:t>2026-05-14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488C80F-D495-450B-B056-BBFF00B35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28D545C-DEEA-4D3F-8AF2-74D101D8C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883A0-628B-497A-8C0E-140788D91AD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16459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C97566-1CC6-402A-A176-EBB9573F9F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792511C-F198-4527-A883-150AD867B1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11DD9F2-ADF2-4FBE-8C4F-5BD9271E7B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6B0A905-34B5-4095-87D9-9048450062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721B489-03B6-410E-8D8F-EE4180E0AD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A2856F41-401B-48C3-B392-1DFB9E4CEB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52016-CBFF-4AC2-AAF3-8502676D51D8}" type="datetimeFigureOut">
              <a:rPr lang="ko-KR" altLang="en-US" smtClean="0"/>
              <a:t>2026-05-14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5848277-C972-4CF3-9A04-A550E9D2D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9F5658C-916E-41FA-BF6F-69984043C2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883A0-628B-497A-8C0E-140788D91AD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0140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A2F3C5-6170-43B1-8DB3-926A8276A2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E0604AA-0DF0-4A40-AE39-158517A97E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52016-CBFF-4AC2-AAF3-8502676D51D8}" type="datetimeFigureOut">
              <a:rPr lang="ko-KR" altLang="en-US" smtClean="0"/>
              <a:t>2026-05-14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05101D4-696D-4E90-B153-B2C3A222E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D1710C6-0883-430F-82F3-0AFA56B4BB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883A0-628B-497A-8C0E-140788D91AD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7025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B5DD03C-4329-49F7-8C83-F6343B0CF5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52016-CBFF-4AC2-AAF3-8502676D51D8}" type="datetimeFigureOut">
              <a:rPr lang="ko-KR" altLang="en-US" smtClean="0"/>
              <a:t>2026-05-14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AF40E67-73D2-444D-9DBB-236EBC778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5F1743E-60CF-47DA-8FF4-EB89316C4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883A0-628B-497A-8C0E-140788D91AD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23404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4EF960-23B1-4944-8C18-8B1B139EC9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5487C97-4BBF-4C2F-8CD8-DF009082CE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16C21DB-1A0E-493B-810C-BBA86D8A42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0B5DCAD-1783-44FF-98C3-97682E1E45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52016-CBFF-4AC2-AAF3-8502676D51D8}" type="datetimeFigureOut">
              <a:rPr lang="ko-KR" altLang="en-US" smtClean="0"/>
              <a:t>2026-05-14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4AF4ADC-D1B1-4D09-BF0E-29320C292B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0FA6E86-7492-4103-BA6F-B575A393FF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883A0-628B-497A-8C0E-140788D91AD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70666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A67AFB-CC68-4D8C-AAF5-7A6B99E4E6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8FEE852-DE6D-432A-9B15-D37C4856DC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6E41E0B-513F-4E92-B6D9-7D3C16B0A1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E68FA4B-EA04-48A1-9189-85291ACECE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52016-CBFF-4AC2-AAF3-8502676D51D8}" type="datetimeFigureOut">
              <a:rPr lang="ko-KR" altLang="en-US" smtClean="0"/>
              <a:t>2026-05-14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6048D13-35D0-4FBA-ABCF-CCF26B0246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EB7D683-C76D-4955-B5E1-AD4C6EDF54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883A0-628B-497A-8C0E-140788D91AD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94410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9706CD-B6ED-4ACA-B270-3C3CFC7E5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18B5E79-65BA-4917-8FD3-0999B4EE4B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26AEC0B-DD49-4DA3-B3CC-714FD234E0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52016-CBFF-4AC2-AAF3-8502676D51D8}" type="datetimeFigureOut">
              <a:rPr lang="ko-KR" altLang="en-US" smtClean="0"/>
              <a:t>2026-05-14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26E61AB-B00C-4CFF-8FAD-926C960E09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CC4F910-3A65-4312-A003-354125A9E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883A0-628B-497A-8C0E-140788D91AD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29246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D973737-B58E-426F-B6BA-BB3E8722A3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729BC1F-9085-42AD-BD55-755C4792A1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E020773-1A4D-4709-A45B-DA19DBA2A1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52016-CBFF-4AC2-AAF3-8502676D51D8}" type="datetimeFigureOut">
              <a:rPr lang="ko-KR" altLang="en-US" smtClean="0"/>
              <a:t>2026-05-14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FD44D0C-A20D-4382-A020-741B997281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1D91D29-ACDB-4668-9E5D-015E23E6C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883A0-628B-497A-8C0E-140788D91AD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17640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870A539-20A1-42B0-B3F4-B1A2C40AF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ED8B4B0-1A79-453C-AF9C-CCAC5066D9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5AF6DEB-3D9F-44B9-8295-A194E2EBEB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A52016-CBFF-4AC2-AAF3-8502676D51D8}" type="datetimeFigureOut">
              <a:rPr lang="ko-KR" altLang="en-US" smtClean="0"/>
              <a:t>2026-05-14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ACFE7B7-056B-4A23-BC54-2CBF7852BB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27866EE-FEF0-49B6-8943-659581F9B2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9883A0-628B-497A-8C0E-140788D91AD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79257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38026F-1AAE-44FF-A713-20FB108EE7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1016" y="130544"/>
            <a:ext cx="10515600" cy="1325563"/>
          </a:xfrm>
        </p:spPr>
        <p:txBody>
          <a:bodyPr/>
          <a:lstStyle/>
          <a:p>
            <a:r>
              <a:rPr lang="en-US" altLang="ko-KR" b="1" dirty="0"/>
              <a:t>Centroid </a:t>
            </a:r>
            <a:r>
              <a:rPr lang="ko-KR" altLang="en-US" b="1" dirty="0"/>
              <a:t>수정하는 로직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284E6BA-9B22-4AE2-AD1C-037B4EADDB2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8761"/>
          <a:stretch/>
        </p:blipFill>
        <p:spPr>
          <a:xfrm>
            <a:off x="173264" y="1761320"/>
            <a:ext cx="2512786" cy="2196991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28618011-B926-4C03-884C-A18B8EB6E49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557" t="10703" r="23169" b="10969"/>
          <a:stretch/>
        </p:blipFill>
        <p:spPr>
          <a:xfrm>
            <a:off x="4156153" y="1761320"/>
            <a:ext cx="3382977" cy="188993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A9AF5DBD-28C7-4335-9F2A-83EC8234A5C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384" t="4744" r="22336" b="4546"/>
          <a:stretch/>
        </p:blipFill>
        <p:spPr>
          <a:xfrm>
            <a:off x="2686050" y="1761320"/>
            <a:ext cx="1470103" cy="166768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68173A41-2266-495A-9498-CC25CF0E55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3264" y="4640997"/>
            <a:ext cx="4581525" cy="166600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CD8D869-8D31-4A99-B413-9B09D5809546}"/>
              </a:ext>
            </a:extLst>
          </p:cNvPr>
          <p:cNvSpPr txBox="1"/>
          <p:nvPr/>
        </p:nvSpPr>
        <p:spPr>
          <a:xfrm>
            <a:off x="173264" y="1424048"/>
            <a:ext cx="52051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Centroid</a:t>
            </a:r>
            <a:r>
              <a:rPr lang="ko-KR" altLang="en-US" dirty="0"/>
              <a:t> </a:t>
            </a:r>
            <a:r>
              <a:rPr lang="en-US" altLang="ko-KR" dirty="0"/>
              <a:t>Set </a:t>
            </a:r>
            <a:r>
              <a:rPr lang="ko-KR" altLang="en-US" dirty="0"/>
              <a:t>개수 </a:t>
            </a:r>
            <a:r>
              <a:rPr lang="en-US" altLang="ko-KR" dirty="0"/>
              <a:t>k </a:t>
            </a:r>
            <a:r>
              <a:rPr lang="ko-KR" altLang="en-US" dirty="0"/>
              <a:t>정하는 로직 </a:t>
            </a:r>
            <a:r>
              <a:rPr lang="en-US" altLang="ko-KR" dirty="0"/>
              <a:t>(8.8M </a:t>
            </a:r>
            <a:r>
              <a:rPr lang="ko-KR" altLang="en-US" dirty="0"/>
              <a:t>기준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65E8AAF-79CF-4FC4-B317-F161A4187B93}"/>
              </a:ext>
            </a:extLst>
          </p:cNvPr>
          <p:cNvSpPr txBox="1"/>
          <p:nvPr/>
        </p:nvSpPr>
        <p:spPr>
          <a:xfrm>
            <a:off x="173264" y="4295583"/>
            <a:ext cx="44495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K=100</a:t>
            </a:r>
            <a:r>
              <a:rPr lang="ko-KR" altLang="en-US" dirty="0" err="1"/>
              <a:t>일때</a:t>
            </a:r>
            <a:r>
              <a:rPr lang="ko-KR" altLang="en-US" dirty="0"/>
              <a:t> 원래 필요한 </a:t>
            </a:r>
            <a:r>
              <a:rPr lang="en-US" altLang="ko-KR" dirty="0"/>
              <a:t>passage </a:t>
            </a:r>
            <a:r>
              <a:rPr lang="ko-KR" altLang="en-US" dirty="0"/>
              <a:t>개수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DF5FD010-2506-4840-8E20-AE86665C431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50885" y="1761320"/>
            <a:ext cx="4289655" cy="264908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A3DDA05-B702-4634-B050-D6F7CB0410AD}"/>
              </a:ext>
            </a:extLst>
          </p:cNvPr>
          <p:cNvSpPr txBox="1"/>
          <p:nvPr/>
        </p:nvSpPr>
        <p:spPr>
          <a:xfrm>
            <a:off x="7650885" y="1424048"/>
            <a:ext cx="44572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Passage</a:t>
            </a:r>
            <a:r>
              <a:rPr lang="ko-KR" altLang="en-US" dirty="0"/>
              <a:t> </a:t>
            </a:r>
            <a:r>
              <a:rPr lang="en-US" altLang="ko-KR" dirty="0"/>
              <a:t>200</a:t>
            </a:r>
            <a:r>
              <a:rPr lang="ko-KR" altLang="en-US" dirty="0"/>
              <a:t>개</a:t>
            </a:r>
            <a:r>
              <a:rPr lang="en-US" altLang="ko-KR" dirty="0"/>
              <a:t>, k(</a:t>
            </a:r>
            <a:r>
              <a:rPr lang="en-US" altLang="ko-KR" dirty="0" err="1"/>
              <a:t>centroidset</a:t>
            </a:r>
            <a:r>
              <a:rPr lang="en-US" altLang="ko-KR" dirty="0"/>
              <a:t> </a:t>
            </a:r>
            <a:r>
              <a:rPr lang="ko-KR" altLang="en-US" dirty="0"/>
              <a:t>개수</a:t>
            </a:r>
            <a:r>
              <a:rPr lang="en-US" altLang="ko-KR" dirty="0"/>
              <a:t>)=100</a:t>
            </a:r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8A40484-C701-4C30-BA03-52F77D80D5A9}"/>
              </a:ext>
            </a:extLst>
          </p:cNvPr>
          <p:cNvSpPr txBox="1"/>
          <p:nvPr/>
        </p:nvSpPr>
        <p:spPr>
          <a:xfrm>
            <a:off x="7650884" y="4480249"/>
            <a:ext cx="436785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실제 </a:t>
            </a:r>
            <a:r>
              <a:rPr lang="en-US" altLang="ko-KR" sz="1000" dirty="0"/>
              <a:t>centroid</a:t>
            </a:r>
            <a:r>
              <a:rPr lang="ko-KR" altLang="en-US" sz="1000" dirty="0"/>
              <a:t> 뽑는 로직으로는</a:t>
            </a:r>
            <a:r>
              <a:rPr lang="en-US" altLang="ko-KR" sz="1000" dirty="0"/>
              <a:t> </a:t>
            </a:r>
            <a:r>
              <a:rPr lang="ko-KR" altLang="en-US" sz="1000" dirty="0"/>
              <a:t>토큰이 </a:t>
            </a:r>
            <a:r>
              <a:rPr lang="en-US" altLang="ko-KR" sz="1000" dirty="0"/>
              <a:t>60~300</a:t>
            </a:r>
            <a:r>
              <a:rPr lang="ko-KR" altLang="en-US" sz="1000" dirty="0"/>
              <a:t>개 정도 있으면 </a:t>
            </a:r>
            <a:r>
              <a:rPr lang="en-US" altLang="ko-KR" sz="1000" dirty="0"/>
              <a:t>128</a:t>
            </a:r>
            <a:r>
              <a:rPr lang="ko-KR" altLang="en-US" sz="1000" dirty="0"/>
              <a:t>개의</a:t>
            </a:r>
            <a:r>
              <a:rPr lang="en-US" altLang="ko-KR" sz="1000" dirty="0"/>
              <a:t> centroid set</a:t>
            </a:r>
            <a:r>
              <a:rPr lang="ko-KR" altLang="en-US" sz="1000" dirty="0"/>
              <a:t>이 얻어진다</a:t>
            </a:r>
            <a:r>
              <a:rPr lang="en-US" altLang="ko-KR" sz="1000" dirty="0"/>
              <a:t>.</a:t>
            </a:r>
          </a:p>
          <a:p>
            <a:r>
              <a:rPr lang="en-US" altLang="ko-KR" sz="1000" dirty="0"/>
              <a:t>-&gt; </a:t>
            </a:r>
            <a:r>
              <a:rPr lang="ko-KR" altLang="en-US" sz="1000" dirty="0"/>
              <a:t>토큰이 </a:t>
            </a:r>
            <a:r>
              <a:rPr lang="en-US" altLang="ko-KR" sz="1000" dirty="0"/>
              <a:t>60~300</a:t>
            </a:r>
            <a:r>
              <a:rPr lang="ko-KR" altLang="en-US" sz="1000" dirty="0"/>
              <a:t>개면 문서는 </a:t>
            </a:r>
            <a:r>
              <a:rPr lang="en-US" altLang="ko-KR" sz="1000" dirty="0"/>
              <a:t>1~5</a:t>
            </a:r>
            <a:r>
              <a:rPr lang="ko-KR" altLang="en-US" sz="1000" dirty="0"/>
              <a:t>개정도라서</a:t>
            </a:r>
            <a:r>
              <a:rPr lang="en-US" altLang="ko-KR" sz="1000" dirty="0"/>
              <a:t> </a:t>
            </a:r>
            <a:r>
              <a:rPr lang="ko-KR" altLang="en-US" sz="1000" dirty="0"/>
              <a:t>쿼리보다 적다</a:t>
            </a:r>
            <a:endParaRPr lang="en-US" altLang="ko-KR" sz="1000" dirty="0"/>
          </a:p>
          <a:p>
            <a:r>
              <a:rPr lang="en-US" altLang="ko-KR" sz="1000" dirty="0"/>
              <a:t>-&gt; </a:t>
            </a:r>
            <a:r>
              <a:rPr lang="ko-KR" altLang="en-US" sz="1000" dirty="0"/>
              <a:t>문서 </a:t>
            </a:r>
            <a:r>
              <a:rPr lang="en-US" altLang="ko-KR" sz="1000" dirty="0"/>
              <a:t>200</a:t>
            </a:r>
            <a:r>
              <a:rPr lang="ko-KR" altLang="en-US" sz="1000" dirty="0"/>
              <a:t>개 해서 </a:t>
            </a:r>
            <a:r>
              <a:rPr lang="en-US" altLang="ko-KR" sz="1000" dirty="0"/>
              <a:t>centroid</a:t>
            </a:r>
            <a:r>
              <a:rPr lang="ko-KR" altLang="en-US" sz="1000" dirty="0"/>
              <a:t>를 강제로 </a:t>
            </a:r>
            <a:r>
              <a:rPr lang="en-US" altLang="ko-KR" sz="1000" dirty="0"/>
              <a:t>100</a:t>
            </a:r>
            <a:r>
              <a:rPr lang="ko-KR" altLang="en-US" sz="1000" dirty="0"/>
              <a:t>개로 뽑게 했다</a:t>
            </a:r>
            <a:endParaRPr lang="en-US" altLang="ko-KR" sz="1000" dirty="0"/>
          </a:p>
        </p:txBody>
      </p:sp>
    </p:spTree>
    <p:extLst>
      <p:ext uri="{BB962C8B-B14F-4D97-AF65-F5344CB8AC3E}">
        <p14:creationId xmlns:p14="http://schemas.microsoft.com/office/powerpoint/2010/main" val="33666424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C83C37E1-AC20-41F3-87A8-83ABA9BA480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3250" b="15616"/>
          <a:stretch/>
        </p:blipFill>
        <p:spPr>
          <a:xfrm>
            <a:off x="114300" y="1690688"/>
            <a:ext cx="3333750" cy="205931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676E2E4-B485-4A16-88DE-30E434C0BB49}"/>
              </a:ext>
            </a:extLst>
          </p:cNvPr>
          <p:cNvSpPr txBox="1"/>
          <p:nvPr/>
        </p:nvSpPr>
        <p:spPr>
          <a:xfrm>
            <a:off x="114300" y="3856603"/>
            <a:ext cx="33337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정답 </a:t>
            </a:r>
            <a:r>
              <a:rPr lang="en-US" altLang="ko-KR" sz="1200" dirty="0" err="1"/>
              <a:t>passag</a:t>
            </a:r>
            <a:r>
              <a:rPr lang="ko-KR" altLang="en-US" sz="1200" dirty="0"/>
              <a:t>의 </a:t>
            </a:r>
            <a:r>
              <a:rPr lang="en-US" altLang="ko-KR" sz="1200" dirty="0"/>
              <a:t>token 165</a:t>
            </a:r>
            <a:r>
              <a:rPr lang="ko-KR" altLang="en-US" sz="1200" dirty="0"/>
              <a:t>개 중 </a:t>
            </a:r>
            <a:r>
              <a:rPr lang="en-US" altLang="ko-KR" sz="1200" dirty="0"/>
              <a:t>top-10 centroid </a:t>
            </a:r>
            <a:r>
              <a:rPr lang="ko-KR" altLang="en-US" sz="1200" dirty="0"/>
              <a:t>안에 </a:t>
            </a:r>
            <a:r>
              <a:rPr lang="en-US" altLang="ko-KR" sz="1200" dirty="0"/>
              <a:t>132</a:t>
            </a:r>
            <a:r>
              <a:rPr lang="ko-KR" altLang="en-US" sz="1200" dirty="0"/>
              <a:t>개</a:t>
            </a:r>
            <a:r>
              <a:rPr lang="en-US" altLang="ko-KR" sz="1200" dirty="0"/>
              <a:t>(80%)</a:t>
            </a:r>
            <a:r>
              <a:rPr lang="ko-KR" altLang="en-US" sz="1200" dirty="0"/>
              <a:t>가</a:t>
            </a:r>
            <a:r>
              <a:rPr lang="en-US" altLang="ko-KR" sz="1200" dirty="0"/>
              <a:t> </a:t>
            </a:r>
            <a:r>
              <a:rPr lang="ko-KR" altLang="en-US" sz="1200" dirty="0"/>
              <a:t>포함된다</a:t>
            </a:r>
            <a:r>
              <a:rPr lang="en-US" altLang="ko-KR" sz="1200" dirty="0"/>
              <a:t>. Top-50</a:t>
            </a:r>
            <a:r>
              <a:rPr lang="ko-KR" altLang="en-US" sz="1200" dirty="0"/>
              <a:t>으로 늘리면 </a:t>
            </a:r>
            <a:r>
              <a:rPr lang="en-US" altLang="ko-KR" sz="1200" dirty="0"/>
              <a:t>98.2%</a:t>
            </a:r>
            <a:r>
              <a:rPr lang="ko-KR" altLang="en-US" sz="1200" dirty="0"/>
              <a:t>까지 올라간다</a:t>
            </a:r>
            <a:r>
              <a:rPr lang="en-US" altLang="ko-KR" sz="1200" dirty="0"/>
              <a:t>. Centroid selection</a:t>
            </a:r>
            <a:r>
              <a:rPr lang="ko-KR" altLang="en-US" sz="1200" dirty="0"/>
              <a:t>이 </a:t>
            </a:r>
            <a:r>
              <a:rPr lang="ko-KR" altLang="en-US" sz="1200" dirty="0" err="1"/>
              <a:t>정상동작하는것이</a:t>
            </a:r>
            <a:r>
              <a:rPr lang="ko-KR" altLang="en-US" sz="1200" dirty="0"/>
              <a:t> 확인됐다</a:t>
            </a:r>
            <a:r>
              <a:rPr lang="en-US" altLang="ko-KR" sz="1200" dirty="0"/>
              <a:t>.</a:t>
            </a:r>
            <a:endParaRPr lang="ko-KR" altLang="en-US" sz="12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20F2C15-B2C4-41B7-AD56-546F9868C1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0925" y="1690688"/>
            <a:ext cx="8356798" cy="3205162"/>
          </a:xfrm>
          <a:prstGeom prst="rect">
            <a:avLst/>
          </a:prstGeom>
        </p:spPr>
      </p:pic>
      <p:sp>
        <p:nvSpPr>
          <p:cNvPr id="7" name="제목 1">
            <a:extLst>
              <a:ext uri="{FF2B5EF4-FFF2-40B4-BE49-F238E27FC236}">
                <a16:creationId xmlns:a16="http://schemas.microsoft.com/office/drawing/2014/main" id="{A7753979-27D6-4654-8392-E72D05E5D91A}"/>
              </a:ext>
            </a:extLst>
          </p:cNvPr>
          <p:cNvSpPr txBox="1">
            <a:spLocks/>
          </p:cNvSpPr>
          <p:nvPr/>
        </p:nvSpPr>
        <p:spPr>
          <a:xfrm>
            <a:off x="211016" y="13054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b="1" dirty="0"/>
              <a:t>만들어진 </a:t>
            </a:r>
            <a:r>
              <a:rPr lang="en-US" altLang="ko-KR" b="1" dirty="0"/>
              <a:t>Centroid-Query Set </a:t>
            </a:r>
            <a:r>
              <a:rPr lang="ko-KR" altLang="en-US" b="1" dirty="0"/>
              <a:t>비교</a:t>
            </a:r>
          </a:p>
        </p:txBody>
      </p:sp>
    </p:spTree>
    <p:extLst>
      <p:ext uri="{BB962C8B-B14F-4D97-AF65-F5344CB8AC3E}">
        <p14:creationId xmlns:p14="http://schemas.microsoft.com/office/powerpoint/2010/main" val="31563258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6D58133-D030-4CEA-9E2F-7315344B0891}"/>
              </a:ext>
            </a:extLst>
          </p:cNvPr>
          <p:cNvSpPr txBox="1"/>
          <p:nvPr/>
        </p:nvSpPr>
        <p:spPr>
          <a:xfrm>
            <a:off x="211016" y="1271441"/>
            <a:ext cx="68755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Ivf_centroid2pid.xlsx_wide format: centroid-passage IVF </a:t>
            </a:r>
            <a:r>
              <a:rPr lang="ko-KR" altLang="en-US" b="1" dirty="0"/>
              <a:t>결과</a:t>
            </a:r>
            <a:endParaRPr lang="en-US" altLang="ko-KR" b="1" dirty="0"/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7E470C54-1B01-4B59-8296-2B0BD26F585E}"/>
              </a:ext>
            </a:extLst>
          </p:cNvPr>
          <p:cNvSpPr txBox="1">
            <a:spLocks/>
          </p:cNvSpPr>
          <p:nvPr/>
        </p:nvSpPr>
        <p:spPr>
          <a:xfrm>
            <a:off x="211016" y="13054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b="1" dirty="0"/>
              <a:t>추가 파일들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E70DC8F-EEE7-463B-8BDE-FDF85AC1E6A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39" r="28433" b="57374"/>
          <a:stretch/>
        </p:blipFill>
        <p:spPr>
          <a:xfrm>
            <a:off x="211016" y="1640773"/>
            <a:ext cx="7180384" cy="1057977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4A30059-AA22-4AB3-AE91-3E687347CD85}"/>
              </a:ext>
            </a:extLst>
          </p:cNvPr>
          <p:cNvSpPr txBox="1"/>
          <p:nvPr/>
        </p:nvSpPr>
        <p:spPr>
          <a:xfrm>
            <a:off x="211016" y="4735764"/>
            <a:ext cx="103280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doc_embs_12919x128.csv(xlsx): 200 passage document</a:t>
            </a:r>
            <a:r>
              <a:rPr lang="ko-KR" altLang="en-US" b="1" dirty="0"/>
              <a:t>의 모든 </a:t>
            </a:r>
            <a:r>
              <a:rPr lang="en-US" altLang="ko-KR" b="1" dirty="0"/>
              <a:t>token embedding </a:t>
            </a:r>
            <a:r>
              <a:rPr lang="ko-KR" altLang="en-US" b="1" dirty="0"/>
              <a:t>결과</a:t>
            </a:r>
            <a:endParaRPr lang="en-US" altLang="ko-KR" b="1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D9BF1A82-76FF-4779-99D9-5E646D4B882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65" t="3247" r="429" b="3287"/>
          <a:stretch/>
        </p:blipFill>
        <p:spPr>
          <a:xfrm>
            <a:off x="211016" y="5099292"/>
            <a:ext cx="10050610" cy="1202758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3C11194-19CF-4762-9013-1D427616D0E4}"/>
              </a:ext>
            </a:extLst>
          </p:cNvPr>
          <p:cNvSpPr txBox="1"/>
          <p:nvPr/>
        </p:nvSpPr>
        <p:spPr>
          <a:xfrm>
            <a:off x="211016" y="6348705"/>
            <a:ext cx="98889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* </a:t>
            </a:r>
            <a:r>
              <a:rPr lang="ko-KR" altLang="en-US" sz="1000" dirty="0"/>
              <a:t>맨 앞에 </a:t>
            </a:r>
            <a:r>
              <a:rPr lang="en-US" altLang="ko-KR" sz="1000" dirty="0"/>
              <a:t>3</a:t>
            </a:r>
            <a:r>
              <a:rPr lang="ko-KR" altLang="en-US" sz="1000" dirty="0"/>
              <a:t>개만 </a:t>
            </a:r>
            <a:r>
              <a:rPr lang="en-US" altLang="ko-KR" sz="1000" dirty="0" err="1"/>
              <a:t>qrel</a:t>
            </a:r>
            <a:r>
              <a:rPr lang="ko-KR" altLang="en-US" sz="1000" dirty="0"/>
              <a:t>이고 나머지 뒤에 </a:t>
            </a:r>
            <a:r>
              <a:rPr lang="en-US" altLang="ko-KR" sz="1000" dirty="0"/>
              <a:t>197</a:t>
            </a:r>
            <a:r>
              <a:rPr lang="ko-KR" altLang="en-US" sz="1000" dirty="0"/>
              <a:t>개는 관련 없는 </a:t>
            </a:r>
            <a:r>
              <a:rPr lang="en-US" altLang="ko-KR" sz="1000" dirty="0"/>
              <a:t>document</a:t>
            </a:r>
          </a:p>
          <a:p>
            <a:r>
              <a:rPr lang="en-US" altLang="ko-KR" sz="1000" dirty="0"/>
              <a:t>* Document 7264253, 7264266,7264308 </a:t>
            </a:r>
            <a:r>
              <a:rPr lang="ko-KR" altLang="en-US" sz="1000" dirty="0"/>
              <a:t>만 정답 문서</a:t>
            </a:r>
            <a:r>
              <a:rPr lang="en-US" altLang="ko-KR" sz="1000" dirty="0"/>
              <a:t> </a:t>
            </a:r>
            <a:endParaRPr lang="ko-KR" altLang="en-US" sz="1000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94FAD68B-2E43-47AA-91D0-82F60B5063F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843" t="756" r="1629" b="49837"/>
          <a:stretch/>
        </p:blipFill>
        <p:spPr>
          <a:xfrm>
            <a:off x="7579556" y="1265598"/>
            <a:ext cx="1376587" cy="1438996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C3189E77-C903-4E6C-A94E-E777D55840C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843" t="49709" r="1629" b="884"/>
          <a:stretch/>
        </p:blipFill>
        <p:spPr>
          <a:xfrm>
            <a:off x="8956143" y="1265598"/>
            <a:ext cx="1376587" cy="1438996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C7ACB8A-7EE9-4B2D-8139-BD4D3A3DFF24}"/>
              </a:ext>
            </a:extLst>
          </p:cNvPr>
          <p:cNvSpPr txBox="1"/>
          <p:nvPr/>
        </p:nvSpPr>
        <p:spPr>
          <a:xfrm>
            <a:off x="10332730" y="1266294"/>
            <a:ext cx="1376587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* Centroid index </a:t>
            </a:r>
            <a:r>
              <a:rPr lang="ko-KR" altLang="en-US" sz="1000" dirty="0"/>
              <a:t>중 정답 문서</a:t>
            </a:r>
            <a:r>
              <a:rPr lang="en-US" altLang="ko-KR" sz="1000" dirty="0"/>
              <a:t>(7264253,7264266,7264308)</a:t>
            </a:r>
            <a:r>
              <a:rPr lang="ko-KR" altLang="en-US" sz="1000" dirty="0"/>
              <a:t> 포함</a:t>
            </a:r>
            <a:r>
              <a:rPr lang="en-US" altLang="ko-KR" sz="1000" dirty="0"/>
              <a:t>: 19,29,30,33,38,40,43,47,59,61,63,72,73,81,89,93</a:t>
            </a: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5B50BC6-75EA-4C06-9AB8-DB832FE9ECF5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580" t="984" r="444" b="2326"/>
          <a:stretch/>
        </p:blipFill>
        <p:spPr>
          <a:xfrm>
            <a:off x="211016" y="3283417"/>
            <a:ext cx="8412163" cy="1295401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8D4C21EA-27ED-431F-B9F3-E8226A2B4172}"/>
              </a:ext>
            </a:extLst>
          </p:cNvPr>
          <p:cNvSpPr txBox="1"/>
          <p:nvPr/>
        </p:nvSpPr>
        <p:spPr>
          <a:xfrm>
            <a:off x="211015" y="2908241"/>
            <a:ext cx="87451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Query_centroid_ranking.xlsx: query token</a:t>
            </a:r>
            <a:r>
              <a:rPr lang="ko-KR" altLang="en-US" b="1" dirty="0"/>
              <a:t>별로 </a:t>
            </a:r>
            <a:r>
              <a:rPr lang="en-US" altLang="ko-KR" b="1" dirty="0"/>
              <a:t>rank1~5 centroid index </a:t>
            </a:r>
            <a:r>
              <a:rPr lang="ko-KR" altLang="en-US" b="1" dirty="0"/>
              <a:t>추출</a:t>
            </a:r>
            <a:endParaRPr lang="en-US" altLang="ko-KR" b="1" dirty="0"/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D6F74E36-2D07-4DC3-835D-4168BD0BA81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02106" y="3912454"/>
            <a:ext cx="1070619" cy="67413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7" name="직사각형 16">
                <a:extLst>
                  <a:ext uri="{FF2B5EF4-FFF2-40B4-BE49-F238E27FC236}">
                    <a16:creationId xmlns:a16="http://schemas.microsoft.com/office/drawing/2014/main" id="{7CD9EAD5-5DD7-47D1-B009-C9838376F3D8}"/>
                  </a:ext>
                </a:extLst>
              </p:cNvPr>
              <p:cNvSpPr/>
              <p:nvPr/>
            </p:nvSpPr>
            <p:spPr>
              <a:xfrm>
                <a:off x="8907371" y="2912379"/>
                <a:ext cx="2385186" cy="101463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ko-KR" sz="1000" dirty="0"/>
                  <a:t>* </a:t>
                </a:r>
                <a:r>
                  <a:rPr lang="en-US" altLang="ko-KR" sz="1000" dirty="0" err="1"/>
                  <a:t>q,c</a:t>
                </a:r>
                <a:r>
                  <a:rPr lang="en-US" altLang="ko-KR" sz="1000" dirty="0"/>
                  <a:t> </a:t>
                </a:r>
                <a:r>
                  <a:rPr lang="ko-KR" altLang="en-US" sz="1000" dirty="0"/>
                  <a:t>모두 </a:t>
                </a:r>
                <a:r>
                  <a:rPr lang="en-US" altLang="ko-KR" sz="1000" dirty="0"/>
                  <a:t>normalize </a:t>
                </a:r>
                <a:r>
                  <a:rPr lang="ko-KR" altLang="en-US" sz="1000" dirty="0"/>
                  <a:t>되어있으므로</a:t>
                </a:r>
                <a:endParaRPr lang="en-US" altLang="ko-KR" sz="1000" dirty="0"/>
              </a:p>
              <a:p>
                <a:r>
                  <a:rPr lang="en-US" altLang="ko-KR" sz="1000" dirty="0"/>
                  <a:t>Euclidean rank=dot product rank</a:t>
                </a:r>
              </a:p>
              <a:p>
                <a:endParaRPr lang="en-US" altLang="ko-KR" sz="1000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10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000" b="0" i="1" smtClean="0">
                              <a:latin typeface="Cambria Math" panose="02040503050406030204" pitchFamily="18" charset="0"/>
                            </a:rPr>
                            <m:t>𝐸𝑢𝑐𝑙𝑖𝑑𝑒𝑎𝑛</m:t>
                          </m:r>
                          <m:r>
                            <a:rPr lang="en-US" altLang="ko-KR" sz="1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ko-KR" sz="1000" b="0" i="1" smtClean="0">
                              <a:latin typeface="Cambria Math" panose="02040503050406030204" pitchFamily="18" charset="0"/>
                            </a:rPr>
                            <m:t>𝑑𝑖𝑠𝑡𝑎𝑛𝑐𝑒</m:t>
                          </m:r>
                          <m:r>
                            <a:rPr lang="en-US" altLang="ko-KR" sz="10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d>
                            <m:dPr>
                              <m:begChr m:val="‖"/>
                              <m:endChr m:val="‖"/>
                              <m:ctrlPr>
                                <a:rPr lang="en-US" altLang="ko-KR" sz="10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0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r>
                                <a:rPr lang="en-US" altLang="ko-KR" sz="10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ko-KR" sz="10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d>
                        </m:e>
                        <m:sup>
                          <m:r>
                            <a:rPr lang="en-US" altLang="ko-KR" sz="1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ko-KR" sz="10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ko-KR" sz="10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altLang="ko-KR" sz="10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0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</m:d>
                        </m:e>
                        <m:sup>
                          <m:r>
                            <a:rPr lang="en-US" altLang="ko-KR" sz="1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ko-KR" sz="100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ko-KR" sz="10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altLang="ko-KR" sz="10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0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d>
                        </m:e>
                        <m:sup>
                          <m:r>
                            <a:rPr lang="en-US" altLang="ko-KR" sz="1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ko-KR" sz="1000" b="0" i="1" smtClean="0">
                          <a:latin typeface="Cambria Math" panose="02040503050406030204" pitchFamily="18" charset="0"/>
                        </a:rPr>
                        <m:t>−2</m:t>
                      </m:r>
                      <m:d>
                        <m:dPr>
                          <m:ctrlPr>
                            <a:rPr lang="en-US" altLang="ko-KR" sz="1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0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  <m:r>
                            <a:rPr lang="en-US" altLang="ko-KR" sz="1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altLang="ko-KR" sz="1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e>
                      </m:d>
                      <m:r>
                        <a:rPr lang="en-US" altLang="ko-KR" sz="1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=2−2∙(</m:t>
                      </m:r>
                      <m:r>
                        <a:rPr lang="en-US" altLang="ko-KR" sz="1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𝑑𝑜𝑡</m:t>
                      </m:r>
                      <m:r>
                        <a:rPr lang="en-US" altLang="ko-KR" sz="1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altLang="ko-KR" sz="1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𝑝𝑟𝑜𝑑𝑢𝑐𝑡</m:t>
                      </m:r>
                      <m:r>
                        <a:rPr lang="en-US" altLang="ko-KR" sz="1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ko-KR" sz="1000" b="0" dirty="0"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7" name="직사각형 16">
                <a:extLst>
                  <a:ext uri="{FF2B5EF4-FFF2-40B4-BE49-F238E27FC236}">
                    <a16:creationId xmlns:a16="http://schemas.microsoft.com/office/drawing/2014/main" id="{7CD9EAD5-5DD7-47D1-B009-C9838376F3D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07371" y="2912379"/>
                <a:ext cx="2385186" cy="1014637"/>
              </a:xfrm>
              <a:prstGeom prst="rect">
                <a:avLst/>
              </a:prstGeom>
              <a:blipFill>
                <a:blip r:embed="rId7"/>
                <a:stretch>
                  <a:fillRect b="-120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286711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17028</TotalTime>
  <Words>215</Words>
  <Application>Microsoft Office PowerPoint</Application>
  <PresentationFormat>와이드스크린</PresentationFormat>
  <Paragraphs>20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7" baseType="lpstr">
      <vt:lpstr>맑은 고딕</vt:lpstr>
      <vt:lpstr>Arial</vt:lpstr>
      <vt:lpstr>Cambria Math</vt:lpstr>
      <vt:lpstr>Office 테마</vt:lpstr>
      <vt:lpstr>Centroid 수정하는 로직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변강현</dc:creator>
  <cp:lastModifiedBy>변강현</cp:lastModifiedBy>
  <cp:revision>37</cp:revision>
  <dcterms:created xsi:type="dcterms:W3CDTF">2026-05-14T12:42:41Z</dcterms:created>
  <dcterms:modified xsi:type="dcterms:W3CDTF">2026-05-26T08:31:05Z</dcterms:modified>
</cp:coreProperties>
</file>